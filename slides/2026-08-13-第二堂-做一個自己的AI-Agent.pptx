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這一小時全程我示範，學員看著走。終點：一個真的活在網路上的 AI 應用，而我不會寫一行 code —— 這比在對話框裡做一個 Artifact 更有說服力。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一分鐘帶過，不要重講第一堂。</a:t>
            </a:r>
          </a:p>
          <a:p>
            <a:r>
              <a:t>只要確認三件事他們記得：① 規格是人談的 ② code 是 Codex 寫的 ③ GitHub Actions 幫你定時跑。</a:t>
            </a:r>
          </a:p>
          <a:p>
            <a:r>
              <a:t>然後把今天定位成「同一個產品往前長」——第一堂那顆競品監控器沒有畫面、也沒有人能打開它；今天補上這兩件。</a:t>
            </a:r>
          </a:p>
          <a:p>
            <a:r>
              <a:t>順便講：第一堂的成果我已經搬進今天這顆 repo，不用在兩邊搬檔案。</a:t>
            </a:r>
          </a:p>
          <a:p>
            <a:r>
              <a:t>版面放不下但要口頭補的：換監控對象改 config、換時間改 workflow、換週報格式改主程式 —— 上週真正學到的是「你知道東西住在哪一格」。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這頁是對 program 的交代：學員 9 月要跟 Aaron 老師準備 Demo Day pitch，而 pitch 需要一個真的能動的東西。</a:t>
            </a:r>
          </a:p>
          <a:p>
            <a:r>
              <a:t>今天給的就是那兩個能力 —— 讓 AI 幫你寫（vibe coding）、以及讓它活在網路上（server：部署、API、資料庫）。</a:t>
            </a:r>
          </a:p>
          <a:p>
            <a:r>
              <a:t>先打開我做好的範例讓他們操作一次，再開始講。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差別不是「更聰明」，是它會自己動手，不用你貼來貼去。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這一頁是全場的軸。</a:t>
            </a:r>
          </a:p>
          <a:p>
            <a:r>
              <a:t>左邊那三個問題，AI 現在都比你強；右邊那三個，它一個都不會替你回答。</a:t>
            </a:r>
          </a:p>
          <a:p>
            <a:r>
              <a:t>補充講：它實作比你強、速度快一百倍，唯一不知道的是你腦子裡那個東西；而它不會承認自己不知道 —— 它會猜，猜得非常自信、看起來非常對。</a:t>
            </a:r>
          </a:p>
          <a:p>
            <a:r>
              <a:t>今天練的兩件事都是在補這個洞：說清楚、看得出錯。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這頁就是「跳過 GitHub 跟寫 PRD」的交代頁，一分鐘帶過。有人上週沒來的話，指他去 repo 的 docs/02-prompts.md 拿訪談員 prompt。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SDD = Spec-Driven Development。不是新流程狂熱，是接單的那位變了。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這是整個 SDD 的理由。不是流程要求，是接單的那位不會自己補洞。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問對問題本身就是專業。你不會問「誰驗收」「什麼算成功」「你的硬限制是什麼」，但那三題決定東西做不做得出來。讓專業的來問，你只要答得誠實。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不要念全文。現場直接示範跑一次，讓他們看到它真的一題一題問，比看投影片上的字有用。全文在 repo，他們複製。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這張表就是今天要帶走的能力。它產出速度是你一百倍、準確度大概七成，那三成錯的地方長得跟對的一模一樣。看得出來就是你的價值。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這頁是「不用打指令」這件事的第二次證明（第一次是 Prompt 0 裝環境）。</a:t>
            </a:r>
          </a:p>
          <a:p>
            <a:r>
              <a:t>兩個坑本來各自是一整頁在教：</a:t>
            </a:r>
          </a:p>
          <a:p>
            <a:r>
              <a:t>  · 部署要在 starter-kit 裡跑 —— 站在最外層會部署「成功」、給你網址、打開卻是 404，而且沒有任何錯誤訊息指向原因，比直接失敗更難查</a:t>
            </a:r>
          </a:p>
          <a:p>
            <a:r>
              <a:t>  · 環境變數加完要再部署一次才生效</a:t>
            </a:r>
          </a:p>
          <a:p>
            <a:r>
              <a:t>現在兩條都寫進 prompt 裡讓 Codex 照做。但講的時候還是要點出來，因為它連到今天的主軸：部署成功 ≠ 網站活著，跟「AI 說做好了 ≠ 做對了」是同一件事 —— 差別只是這次換到基礎設施這一層。</a:t>
            </a:r>
          </a:p>
          <a:p>
            <a:r>
              <a:t>全文在 repo 的 docs/02-prompts.md（Prompt 0.5），叫他們複製不要照打。</a:t>
            </a:r>
          </a:p>
          <a:p>
            <a:r>
              <a:t>⚠️ key 貼給 Codex 的時候提醒一句：那串等於密碼，只進 Vercel 的環境變數，不要貼進 GitHub、不要傳給同學。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這一段是今天的核心動作：規格是人寫的，code 是它產的。</a:t>
            </a:r>
          </a:p>
          <a:p>
            <a:r>
              <a:t>「先複述你的理解」那句是保險 —— 讓它在動手前把誤解講出來，</a:t>
            </a:r>
          </a:p>
          <a:p>
            <a:r>
              <a:t>省下的時間比它花的多。現場示範一次它複述錯、被我糾正的樣子最有說服力。</a:t>
            </a:r>
          </a:p>
          <a:p/>
          <a:p>
            <a:r>
              <a:t>看 diff 不是要他們讀 code，是看「它動了哪幾個檔」——</a:t>
            </a:r>
          </a:p>
          <a:p>
            <a:r>
              <a:t>動到你沒要求的檔案就是警訊，那時候退回去重講。</a:t>
            </a:r>
          </a:p>
          <a:p/>
          <a:p>
            <a:r>
              <a:t>額度要老實講：免費約 10 次/天，反覆試錯很容易用完。有 Plus 的人會順很多，但不要讓沒付費的人覺得今天做不完 —— Plan B（普通對話 + 貼回 GitHub）是真的可行。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這頁用來回答「我到底做了什麼」，下一頁才是重點：想法落在哪一層。</a:t>
            </a:r>
          </a:p>
          <a:p>
            <a:r>
              <a:t>講三條線：</a:t>
            </a:r>
          </a:p>
          <a:p>
            <a:r>
              <a:t>① → ② → ③：你在自己電腦上改，push 到 GitHub，Vercel 自動把它跑起來。</a:t>
            </a:r>
          </a:p>
          <a:p>
            <a:r>
              <a:t>③ → ④：使用者按送出，是你的伺服器拿著 key 去問 Groq，不是他的瀏覽器去問。</a:t>
            </a:r>
          </a:p>
          <a:p>
            <a:r>
              <a:t>③ → ⑤：要留下紀錄才需要 Supabase，而 RLS 是擋在 ⑤ 這一層、不是在 ③。</a:t>
            </a:r>
          </a:p>
          <a:p>
            <a:r>
              <a:t>最後那句是重點：橘色的部分壞了你修得動，灰色的只能照它的規則玩 —— 這也是為什麼額度、限流、RLS 這些事你得知道。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這頁是整份 deck 最實用的一頁，因為它回答「我有想法之後第一步做什麼」。</a:t>
            </a:r>
          </a:p>
          <a:p>
            <a:r>
              <a:t>抽象與具體的分工要講清楚，但都用他們的語言講 —— 台下不會有人去打開檔案：</a:t>
            </a:r>
          </a:p>
          <a:p>
            <a:r>
              <a:t>· 具體 = 你說得出「原本長這樣 → 我要它變那樣」。直接講，它自己去找檔案。</a:t>
            </a:r>
          </a:p>
          <a:p>
            <a:r>
              <a:t>· 抽象 = 你只知道想要什麼、不知道要動哪裡。那就問路，讓它告訴你該加什麼。</a:t>
            </a:r>
          </a:p>
          <a:p>
            <a:r>
              <a:t>兩個反過來都會壞：什麼都還沒想清楚就下具體指令 → 你會指錯方向；</a:t>
            </a:r>
          </a:p>
          <a:p>
            <a:r>
              <a:t>一直抽象 → 它到處亂改，而且一個 Codex task 就燒掉了。</a:t>
            </a:r>
          </a:p>
          <a:p>
            <a:r>
              <a:t>現場示範：拿「我要記住上次打什麼」問一次抽象的，看它自己說要加資料庫。</a:t>
            </a:r>
          </a:p>
          <a:p>
            <a:r>
              <a:t>它動完會回報改了哪些檔 —— 那時候看一眼就好，這就是驗收，不是要你讀 code。</a:t>
            </a:r>
          </a:p>
          <a:p>
            <a:r>
              <a:t>口頭再補兩條（版面放不下）：</a:t>
            </a:r>
          </a:p>
          <a:p>
            <a:r>
              <a:t>· 「不想被別人看到我的資料」→ 落在 ⑤ 的 RLS，不是 ① 頁面 —— 頁面擋不住任何人。</a:t>
            </a:r>
          </a:p>
          <a:p>
            <a:r>
              <a:t>· 「我要每天早上自動跑一次」→ 落在 ② GitHub，就是第一堂那個競品監控器。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這是今天唯一的架構觀念，但它真的重要 —— 把 key 放前端是新手最貴的錯。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為什麼要誠實講這頁：prompt 裡寫「做完檢查有沒有遺漏」不會讓它變成 Agent，它只是在同一次生成裡多講幾句話。Anthropic 的定義是「LLM 動態決定自己的流程與工具使用」——一次呼叫的結構化輸出叫 workflow，不叫 agent。</a:t>
            </a:r>
          </a:p>
          <a:p/>
          <a:p>
            <a:r>
              <a:t>這頁也讓 deck 內部一致：後面五層那頁標了「❹ Loop 還沒做」，而 Loop 正是 Agent 的核心。兩頁不能一頁說沒做、一頁說做到了。</a:t>
            </a:r>
          </a:p>
          <a:p/>
          <a:p>
            <a:r>
              <a:t>有工程背景的學員會問這個 —— 誠實講你站得住腳，而且他們會更信任後面的內容。</a:t>
            </a:r>
          </a:p>
          <a:p>
            <a:r>
              <a:t>接下來三頁把骨架的三個零件逐個裝上去。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現場示範：先用沒有這幾條規則的版本跑一次，讓他們看到它編東西；加上規則再跑同一段，對照差別。這是整堂課最有說服力的一個 before/after。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順序很重要：先調 temperature 再考慮換 model。新手一遇到問題就想換更大的 model，多數時候調參數就解決了，而且免費。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⛔ 講師紀律：等有人真的被 Codex 改壞了再講這一頁，不要提前預防。</a:t>
            </a:r>
          </a:p>
          <a:p>
            <a:r>
              <a:t>Mollick 的鋸齒邊界只能靠親身撞到 —— 我先講規則，他們記不住；他們自己看到「AI 說改好了但畫面壞了」，這一頁才會生根。</a:t>
            </a:r>
          </a:p>
          <a:p>
            <a:r>
              <a:t>所以巡場看到有人被亂改，不要急著出手救，讓他先看到後果，再回頭指 review 六格跟這兩條紀律。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先讓他們感覺到缺什麼，再講怎麼補。順序反了就變成「為什麼要學資料庫」。</a:t>
            </a:r>
          </a:p>
          <a:p>
            <a:r>
              <a:t>講清楚今天到哪裡為止：今天示範到「輸入 → AI → 看結果」，存資料是下一步，我給交辦的話，他們回家自己接。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這頁是整個資料庫段唯一必須從我嘴裡出去的東西：RLS。</a:t>
            </a:r>
          </a:p>
          <a:p>
            <a:r>
              <a:t>為什麼 anon key 在前端是設計如此 —— 所以安全邊界在 RLS 不在 key。</a:t>
            </a:r>
          </a:p>
          <a:p>
            <a:r>
              <a:t>驗證方法要講：開一個無痕視窗（沒有登入狀態）試著讀資料，讀得到就是沒生效。</a:t>
            </a:r>
          </a:p>
          <a:p>
            <a:r>
              <a:t>剩下的（裝什麼、建什麼欄位、怎麼寫查詢）都不用講 —— 那段話貼下去 Codex 會做。</a:t>
            </a:r>
          </a:p>
          <a:p>
            <a:r>
              <a:t>⚠️ 我自己要記得：Vercel 的 KV / Postgres 已下架，別講那兩個名字。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這頁的用途是「命名」，不是教學 —— 他們已經做完了，現在給那些動作正式名稱，帶走時才講得出自己會什麼。</a:t>
            </a:r>
          </a:p>
          <a:p>
            <a:r>
              <a:t>❷ Context：Gartner 2025「context is in, prompt is out」。他們 review 的 SPEC 就是 context。</a:t>
            </a:r>
          </a:p>
          <a:p>
            <a:r>
              <a:t>❸ Harness：用程式框住 AI，不靠它自律。那個 CI 就是。</a:t>
            </a:r>
          </a:p>
          <a:p>
            <a:r>
              <a:t>❹ Loop：Boris Cherny「我不再 prompt AI，loop 在 prompt 它」——告訴他們後面還有路，不是今天就無敵了。</a:t>
            </a:r>
          </a:p>
          <a:p>
            <a:r>
              <a:t>Karpathy 也提醒過這是 Decade of Agents 不是 Year of Agents。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收尾回到第一頁那句：你現在有一個網址了。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1783080"/>
            <a:ext cx="713232" cy="914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993392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>
                <a:solidFill>
                  <a:srgbClr val="E8590C"/>
                </a:solidFill>
                <a:latin typeface="Helvetica Neue"/>
                <a:ea typeface="Noto Sans TC"/>
              </a:rPr>
              <a:t>線上實作課 · 第二堂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95728"/>
            <a:ext cx="10362895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800" b="1">
                <a:solidFill>
                  <a:srgbClr val="1A1A1A"/>
                </a:solidFill>
                <a:latin typeface="Helvetica Neue"/>
                <a:ea typeface="Noto Sans TC"/>
              </a:rPr>
              <a:t>做一個自己的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01568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800" b="0">
                <a:solidFill>
                  <a:srgbClr val="4A4A4A"/>
                </a:solidFill>
                <a:latin typeface="Helvetica Neue"/>
                <a:ea typeface="Noto Sans TC"/>
              </a:rPr>
              <a:t>不會寫程式，也能讓它真的上線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187952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8A8A85"/>
                </a:solidFill>
                <a:latin typeface="Helvetica Neue"/>
                <a:ea typeface="Noto Sans TC"/>
              </a:rPr>
              <a:t>8/13（四）19:00-20:00 · 蔡子揚 Young</a:t>
            </a:r>
          </a:p>
        </p:txBody>
      </p:sp>
      <p:pic>
        <p:nvPicPr>
          <p:cNvPr id="8" name="Picture 7" descr="qr-repo-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967" y="4462272"/>
            <a:ext cx="1572768" cy="1572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45175" y="5888736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500" b="1">
                <a:solidFill>
                  <a:srgbClr val="C2410C"/>
                </a:solidFill>
                <a:latin typeface="Helvetica Neue"/>
                <a:ea typeface="Noto Sans TC"/>
              </a:rPr>
              <a:t>掃我 → 按 Fork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5175" y="6217920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400" b="0">
                <a:solidFill>
                  <a:srgbClr val="8A8A85"/>
                </a:solidFill>
                <a:latin typeface="Helvetica Neue"/>
                <a:ea typeface="Noto Sans TC"/>
              </a:rPr>
              <a:t>github.com/young-ai-courses/ai-agent-workshop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上週你做出來的東西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64408"/>
            <a:ext cx="2151811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在 ChatGPT
談清楚規格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7651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1427" y="3264408"/>
            <a:ext cx="2151811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交給 Codex
它寫 code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94679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8455" y="3264408"/>
            <a:ext cx="2151811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放上 GitHub
Actions 自動跑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31707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5483" y="3264408"/>
            <a:ext cx="2151811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每週自己產
競品週報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30368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4A4A4A"/>
                </a:solidFill>
                <a:latin typeface="Helvetica Neue"/>
                <a:ea typeface="Noto Sans TC"/>
              </a:rPr>
              <a:t>重點不是「會寫程式」，是你講兩句中文、它自己去做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0702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>
                <a:solidFill>
                  <a:srgbClr val="C2410C"/>
                </a:solidFill>
                <a:latin typeface="Helvetica Neue"/>
                <a:ea typeface="Noto Sans TC"/>
              </a:rPr>
              <a:t>今天在同一顆 repo 上往前接：讓它有畫面、有 AI、而且活在網路上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今天你帶走兩個能力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5A5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① Vibe 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384803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你說要什麼，AI 寫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110228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你不讀每一行，你看結果對不對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835652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Codex 桌面版直接改你的檔案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② 搞定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98767" y="3384803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1375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部署上線（Vercel）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98767" y="4110228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1375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接 AI API（Groq）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8767" y="4835652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1375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存資料（Supabase）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AI 寫 code 這件事，走過三個階段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359152"/>
          <a:ext cx="10332720" cy="285292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011680"/>
                <a:gridCol w="2286000"/>
                <a:gridCol w="2651760"/>
                <a:gridCol w="3383280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/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2021 自動補全</a:t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2023 對話生成</a:t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2025 交辦執行</a:t>
                      </a:r>
                    </a:p>
                  </a:txBody>
                  <a:tcPr marL="201168" marR="201168" marT="36576" marB="36576" anchor="ctr">
                    <a:solidFill>
                      <a:srgbClr val="C2410C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你做什麼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打字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問「怎麼寫」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說「我要什麼」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AI 做什麼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猜你下一行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給你一段，你貼回去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自己讀專案、改檔、開 PR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你的角色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打字的人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組裝的人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需求方＋驗收方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4A4A4A"/>
                </a:solidFill>
                <a:latin typeface="Helvetica Neue"/>
                <a:ea typeface="Noto Sans TC"/>
              </a:rPr>
              <a:t>Codex · Claude Code · Cursor 都在第三階段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所以瓶頸換位置了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5A5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以前的瓶頸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384803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0">
                <a:solidFill>
                  <a:srgbClr val="1A1A1A"/>
                </a:solidFill>
                <a:latin typeface="Helvetica Neue"/>
                <a:ea typeface="Noto Sans TC"/>
              </a:rPr>
              <a:t>你會不會寫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110228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0">
                <a:solidFill>
                  <a:srgbClr val="1A1A1A"/>
                </a:solidFill>
                <a:latin typeface="Helvetica Neue"/>
                <a:ea typeface="Noto Sans TC"/>
              </a:rPr>
              <a:t>看得懂語法嗎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835652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0">
                <a:solidFill>
                  <a:srgbClr val="1A1A1A"/>
                </a:solidFill>
                <a:latin typeface="Helvetica Neue"/>
                <a:ea typeface="Noto Sans TC"/>
              </a:rPr>
              <a:t>記得住 API 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現在的瓶頸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98767" y="3384803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1375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0">
                <a:solidFill>
                  <a:srgbClr val="1A1A1A"/>
                </a:solidFill>
                <a:latin typeface="Helvetica Neue"/>
                <a:ea typeface="Noto Sans TC"/>
              </a:rPr>
              <a:t>你到底要什麼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98767" y="4110228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1375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0">
                <a:solidFill>
                  <a:srgbClr val="1A1A1A"/>
                </a:solidFill>
                <a:latin typeface="Helvetica Neue"/>
                <a:ea typeface="Noto Sans TC"/>
              </a:rPr>
              <a:t>看不看得出它做錯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8767" y="4835652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1375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0">
                <a:solidFill>
                  <a:srgbClr val="1A1A1A"/>
                </a:solidFill>
                <a:latin typeface="Helvetica Neue"/>
                <a:ea typeface="Noto Sans TC"/>
              </a:rPr>
              <a:t>說不說得清楚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上週你已經寫過規格了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5A5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上週你做的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384803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跟 ChatGPT 聊出需求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110228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貼成 GitHub Issue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835652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Codex 讀它、寫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今天沿用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98767" y="3384803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1375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同一份規格，不重寫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98767" y="4110228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1375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換成一個要上線的東西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8767" y="4835652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1375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重點在部署、存資料、調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>
                <a:solidFill>
                  <a:srgbClr val="C2410C"/>
                </a:solidFill>
                <a:latin typeface="Helvetica Neue"/>
                <a:ea typeface="Noto Sans TC"/>
              </a:rPr>
              <a:t>規格怎麼寫、怎麼 review —— 上週那套照用，今天不重講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「需求講不清」比 AI 早了五十年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404872"/>
          <a:ext cx="10332720" cy="285292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468880"/>
                <a:gridCol w="3931920"/>
                <a:gridCol w="3931920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年代</a:t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解法</a:t>
                      </a:r>
                    </a:p>
                  </a:txBody>
                  <a:tcPr marL="201168" marR="201168" marT="36576" marB="36576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為什麼還是會出事</a:t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1970s 瀑布式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先寫超厚規格書，簽核才開工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寫的時候還不知道要什麼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2000s 敏捷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不寫厚規格，兩週一版邊做邊修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靠「人的常識相通」補洞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2025 SDD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規格是唯一真相，code 是它的產物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← 我們現在在這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敏捷能省規格，是因為人有常識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5A5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你跟工程師說「做登入頁」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384803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他自己就知道要有密碼欄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110228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要遮起來、打錯要提示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835652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不能把密碼印進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你跟 AI 說「做登入頁」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98767" y="3384803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1375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它給你統計上最常見的做法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98767" y="4110228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1375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＋一堆你沒要的東西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8767" y="4835652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1375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＋漏掉你以為理所當然的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>
                <a:solidFill>
                  <a:srgbClr val="C2410C"/>
                </a:solidFill>
                <a:latin typeface="Helvetica Neue"/>
                <a:ea typeface="Noto Sans TC"/>
              </a:rPr>
              <a:t>那些沒人寫在規格上的事，工程師自己補了；AI 不會 —— 它只會猜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SDD 一句話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96896"/>
            <a:ext cx="10362895" cy="1737360"/>
          </a:xfrm>
          <a:prstGeom prst="roundRect">
            <a:avLst>
              <a:gd name="adj" fmla="val 14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54864" bIns="54864"/>
          <a:lstStyle/>
          <a:p>
            <a:pPr algn="ctr">
              <a:lnSpc>
                <a:spcPct val="122000"/>
              </a:lnSpc>
            </a:pPr>
            <a:r>
              <a:rPr sz="3400" b="1">
                <a:solidFill>
                  <a:srgbClr val="1A1A1A"/>
                </a:solidFill>
                <a:latin typeface="Helvetica Neue"/>
                <a:ea typeface="Noto Sans TC"/>
              </a:rPr>
              <a:t>規格是你唯一真的要親手 review 的東西
code 是它的產物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96896"/>
            <a:ext cx="100584" cy="17373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>
                <a:solidFill>
                  <a:srgbClr val="4A4A4A"/>
                </a:solidFill>
                <a:latin typeface="Helvetica Neue"/>
                <a:ea typeface="Noto Sans TC"/>
              </a:rPr>
              <a:t>code 壞了可以重新生成一次
規格錯了，生成幾次都是錯的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所以 PRD 怎麼寫？你不用學會寫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6412"/>
            <a:ext cx="3064154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1A1A1A"/>
                </a:solidFill>
                <a:latin typeface="Helvetica Neue"/>
                <a:ea typeface="Noto Sans TC"/>
              </a:rPr>
              <a:t>① 許願
一句白話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69994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63770" y="3296412"/>
            <a:ext cx="3064154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1A1A1A"/>
                </a:solidFill>
                <a:latin typeface="Helvetica Neue"/>
                <a:ea typeface="Noto Sans TC"/>
              </a:rPr>
              <a:t>② 召喚訪談員
它問你 6 題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719364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13140" y="3296412"/>
            <a:ext cx="3064154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1A1A1A"/>
                </a:solidFill>
                <a:latin typeface="Helvetica Neue"/>
                <a:ea typeface="Noto Sans TC"/>
              </a:rPr>
              <a:t>③ 你 review
← 技術活在這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38928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4A4A4A"/>
                </a:solidFill>
                <a:latin typeface="Helvetica Neue"/>
                <a:ea typeface="Noto Sans TC"/>
              </a:rPr>
              <a:t>壞消息：你不知道要寫什麼（第一次寫 PRD 的人都不知道）
好消息：你不用知道 —— LLM 知道要問什麼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🔑 這支 prompt 是今天最重要的工具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開 ChatGPT 或 Claude 的網頁版，開一個新對話貼進去（不是 Codex）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48256"/>
            <a:ext cx="10362895" cy="3657600"/>
          </a:xfrm>
          <a:prstGeom prst="roundRect">
            <a:avLst>
              <a:gd name="adj" fmla="val 4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10896" rIns="219456" tIns="164592" bIns="128016"/>
          <a:lstStyle/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你是資深產品經理，把外行人模糊的願望，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問成工程師做得出來的需求單。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我的願望：「＿＿＿＿＿」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硬限制：不會寫程式／只有 3.5 小時／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　　　　只有一個輸入框＋一次 AI 呼叫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規則：一次只問一題，最多 6 題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　　　只問使用者層面，不問技術問題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　　　我說「不知道」就給我 2-3 個選項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問完產出 PRD，要有「做得完 vs 做不完」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48256"/>
            <a:ext cx="82296" cy="36576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>
                <a:solidFill>
                  <a:srgbClr val="8A8A85"/>
                </a:solidFill>
                <a:latin typeface="Helvetica Neue"/>
                <a:ea typeface="Noto Sans TC"/>
              </a:rPr>
              <a:t>全文（含 PRD 完整格式）在 repo → docs/02-prompts.md 的 Prompt 1，複製就好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它給你 PRD 之後：逐條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39696"/>
            <a:ext cx="3271418" cy="1728216"/>
          </a:xfrm>
          <a:prstGeom prst="roundRect">
            <a:avLst>
              <a:gd name="adj" fmla="val 8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" y="2414015"/>
            <a:ext cx="420624" cy="685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2615184"/>
            <a:ext cx="279593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A 有沒有搞懂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3218688"/>
            <a:ext cx="279593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A4A4A"/>
                </a:solidFill>
                <a:latin typeface="Helvetica Neue"/>
                <a:ea typeface="Noto Sans TC"/>
              </a:rPr>
              <a:t>是我要的東西嗎
有沒有自己加東西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0138" y="2139696"/>
            <a:ext cx="3271418" cy="1728216"/>
          </a:xfrm>
          <a:prstGeom prst="roundRect">
            <a:avLst>
              <a:gd name="adj" fmla="val 8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97882" y="2414015"/>
            <a:ext cx="420624" cy="685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7882" y="2615184"/>
            <a:ext cx="279593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B 夠不夠具體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7882" y="3218688"/>
            <a:ext cx="279593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A4A4A"/>
                </a:solidFill>
                <a:latin typeface="Helvetica Neue"/>
                <a:ea typeface="Noto Sans TC"/>
              </a:rPr>
              <a:t>「他做 X → 看到 Y」
沒有無法打勾的形容詞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5876" y="2139696"/>
            <a:ext cx="3271418" cy="1728216"/>
          </a:xfrm>
          <a:prstGeom prst="roundRect">
            <a:avLst>
              <a:gd name="adj" fmla="val 8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3620" y="2414015"/>
            <a:ext cx="420624" cy="685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3620" y="2615184"/>
            <a:ext cx="279593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C AI 做什麼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620" y="3218688"/>
            <a:ext cx="279593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A4A4A"/>
                </a:solidFill>
                <a:latin typeface="Helvetica Neue"/>
                <a:ea typeface="Noto Sans TC"/>
              </a:rPr>
              <a:t>輸入、輸出格式
不確定的怎麼處理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42231"/>
            <a:ext cx="3271418" cy="1728216"/>
          </a:xfrm>
          <a:prstGeom prst="roundRect">
            <a:avLst>
              <a:gd name="adj" fmla="val 8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2144" y="4416551"/>
            <a:ext cx="420624" cy="685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4617719"/>
            <a:ext cx="279593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D 做不完的呢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5221223"/>
            <a:ext cx="279593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A4A4A"/>
                </a:solidFill>
                <a:latin typeface="Helvetica Neue"/>
                <a:ea typeface="Noto Sans TC"/>
              </a:rPr>
              <a:t>有沒有誠實切開
做不完的有寫下來嗎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0138" y="4142231"/>
            <a:ext cx="3271418" cy="1728216"/>
          </a:xfrm>
          <a:prstGeom prst="roundRect">
            <a:avLst>
              <a:gd name="adj" fmla="val 8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97882" y="4416551"/>
            <a:ext cx="420624" cy="685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7882" y="4617719"/>
            <a:ext cx="279593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E 有沒有踩線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7882" y="5221223"/>
            <a:ext cx="279593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A4A4A"/>
                </a:solidFill>
                <a:latin typeface="Helvetica Neue"/>
                <a:ea typeface="Noto Sans TC"/>
              </a:rPr>
              <a:t>個資 · 金流 · 責任
key 有沒有進 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5876" y="4142231"/>
            <a:ext cx="3271418" cy="1728216"/>
          </a:xfrm>
          <a:prstGeom prst="roundRect">
            <a:avLst>
              <a:gd name="adj" fmla="val 8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43620" y="4416551"/>
            <a:ext cx="420624" cy="685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3620" y="4617719"/>
            <a:ext cx="279593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F 能不能打勾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3620" y="5221223"/>
            <a:ext cx="279593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A4A4A"/>
                </a:solidFill>
                <a:latin typeface="Helvetica Neue"/>
                <a:ea typeface="Noto Sans TC"/>
              </a:rPr>
              <a:t>三條驗收條件
當場打得勾或打得叉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最容易漏的是 D：它不會主動說「做不完」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391156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5024" y="2139696"/>
            <a:ext cx="981425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1A1A1A"/>
                </a:solidFill>
                <a:latin typeface="Helvetica Neue"/>
                <a:ea typeface="Noto Sans TC"/>
              </a:rPr>
              <a:t>你說要五個功能 → 它五個都寫進 PRD，都寫得很可行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3076956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5024" y="2825496"/>
            <a:ext cx="981425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1A1A1A"/>
                </a:solidFill>
                <a:latin typeface="Helvetica Neue"/>
                <a:ea typeface="Noto Sans TC"/>
              </a:rPr>
              <a:t>因為它不知道你只有 3.5 小時、不會寫程式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4A4A4A"/>
                </a:solidFill>
                <a:latin typeface="Helvetica Neue"/>
                <a:ea typeface="Noto Sans TC"/>
              </a:rPr>
              <a:t>所以你要主動問一句：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160520"/>
            <a:ext cx="10362895" cy="123444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343400"/>
            <a:ext cx="963137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>
                <a:solidFill>
                  <a:srgbClr val="C2410C"/>
                </a:solidFill>
                <a:latin typeface="Helvetica Neue"/>
                <a:ea typeface="Noto Sans TC"/>
              </a:rPr>
              <a:t>「我只有 3.5 小時、不會寫程式、只有一個輸入框加一次 AI 呼叫。
　重新切一次：今天做得完的一組，做不完的另外列清單」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A4A4A"/>
                </a:solidFill>
                <a:latin typeface="Helvetica Neue"/>
                <a:ea typeface="Noto Sans TC"/>
              </a:rPr>
              <a:t>做不完的不要刪掉 —— demo 時你可以說「這版先做到 X，接下來長 Y」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接下來這條線，全自動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6412"/>
            <a:ext cx="160440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SPEC.md
你 review 過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10246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04022" y="3296412"/>
            <a:ext cx="160440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Codex
改 code
開 PR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99868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93644" y="3296412"/>
            <a:ext cx="160440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GitHub
你 merge
CI 檢查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89490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83266" y="3296412"/>
            <a:ext cx="160440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Vercel
自動部署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79112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72888" y="3296412"/>
            <a:ext cx="160440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你的網址
別人打得開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38928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4A4A4A"/>
                </a:solidFill>
                <a:latin typeface="Helvetica Neue"/>
                <a:ea typeface="Noto Sans TC"/>
              </a:rPr>
              <a:t>你只做兩個動作：把 SPEC 給 Codex、按 merge
剩下每一步都是自動發生的 —— 這叫 CI/CD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我現在從零示範一次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貼在同一個地方：ChatGPT 桌面版 → Codex → 對話框 → 送出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48256"/>
            <a:ext cx="10362895" cy="3429000"/>
          </a:xfrm>
          <a:prstGeom prst="roundRect">
            <a:avLst>
              <a:gd name="adj" fmla="val 4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10896" rIns="219456" tIns="164592" bIns="128016"/>
          <a:lstStyle/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請幫我把這個專案部署上線。我不會用終端機，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每一步先講你要做什麼，再執行。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1. 進到 starter-kit 資料夾再裝套件、再部署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   一定要在 starter-kit 裡面部署，站在最外層會「成功」但打開是 404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2. 部署到 Vercel production，第一次問的設定全部用預設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3. 把 GROQ_API_KEY 加進環境變數（key 我貼給你，不要印在畫面上）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4. 加完再部署一次讓 key 生效，不重跑不會生效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5. 把網址給我，並確認打開不是 404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48256"/>
            <a:ext cx="82296" cy="3429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8A8A85"/>
                </a:solidFill>
                <a:latin typeface="Helvetica Neue"/>
                <a:ea typeface="Noto Sans TC"/>
              </a:rPr>
              <a:t>最貴的兩個坑寫在第 1 步跟第 4 步 —— 你不用記，但看到 404 就知道它跳過了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把 SPEC 交給 Codex 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規格是你寫的，動手的是它 —— 你只負責看它做對沒有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57984"/>
            <a:ext cx="10362895" cy="62865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2280284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2139696"/>
            <a:ext cx="862553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在 Codex 貼上你 review 過的 SPEC，加一句「先複述你的理解，等我說開始」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78074"/>
            <a:ext cx="10362895" cy="62865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2144" y="3000375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859786"/>
            <a:ext cx="862553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看它複述得對不對 —— 不對就先講清楚，別讓它開工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98164"/>
            <a:ext cx="10362895" cy="62865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" y="3720464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3579876"/>
            <a:ext cx="862553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它改完會給你 diff（哪幾個檔、改了什麼）→ 你看過再接受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318253"/>
            <a:ext cx="10362895" cy="62865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2144" y="4440554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4299966"/>
            <a:ext cx="862553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接受後 push → Vercel 自動重新部署，30 秒後重新整理你的網址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138928"/>
            <a:ext cx="10362895" cy="96012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285232"/>
            <a:ext cx="97228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  <a:ea typeface="Noto Sans TC"/>
              </a:rPr>
              <a:t>⚠️ 免費方案的 Codex 一天約 10 次（一次＝它完整跑一輪）
有 ChatGPT Plus 會順很多；額度用光看 QUICKSTART 的 Plan 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你做的東西，長這樣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橘色是你的（改得動）· 灰色是租來的服務（只能呼叫）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95728"/>
            <a:ext cx="2788920" cy="1188720"/>
          </a:xfrm>
          <a:prstGeom prst="roundRect">
            <a:avLst>
              <a:gd name="adj" fmla="val 10000"/>
            </a:avLst>
          </a:prstGeom>
          <a:solidFill>
            <a:srgbClr val="FDEFE4"/>
          </a:solidFill>
          <a:ln w="1778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23744"/>
            <a:ext cx="2606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1A1A1A"/>
                </a:solidFill>
                <a:latin typeface="Helvetica Neue"/>
                <a:ea typeface="Noto Sans TC"/>
              </a:rPr>
              <a:t>① 你的電腦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52928"/>
            <a:ext cx="26060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A4A4A"/>
                </a:solidFill>
                <a:latin typeface="Helvetica Neue"/>
                <a:ea typeface="Noto Sans TC"/>
              </a:rPr>
              <a:t>Codex 改 code
vercel CLI 部署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22191" y="2871216"/>
            <a:ext cx="292608" cy="237744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24528" y="2395728"/>
            <a:ext cx="2788920" cy="1188720"/>
          </a:xfrm>
          <a:prstGeom prst="roundRect">
            <a:avLst>
              <a:gd name="adj" fmla="val 10000"/>
            </a:avLst>
          </a:prstGeom>
          <a:solidFill>
            <a:srgbClr val="FDEFE4"/>
          </a:solidFill>
          <a:ln w="1778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2523744"/>
            <a:ext cx="2606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1A1A1A"/>
                </a:solidFill>
                <a:latin typeface="Helvetica Neue"/>
                <a:ea typeface="Noto Sans TC"/>
              </a:rPr>
              <a:t>②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852928"/>
            <a:ext cx="26060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A4A4A"/>
                </a:solidFill>
                <a:latin typeface="Helvetica Neue"/>
                <a:ea typeface="Noto Sans TC"/>
              </a:rPr>
              <a:t>你的 code 放這
Actions 自動檢查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32320" y="2871216"/>
            <a:ext cx="292608" cy="237744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34656" y="2395728"/>
            <a:ext cx="3739896" cy="1188720"/>
          </a:xfrm>
          <a:prstGeom prst="roundRect">
            <a:avLst>
              <a:gd name="adj" fmla="val 10000"/>
            </a:avLst>
          </a:prstGeom>
          <a:solidFill>
            <a:srgbClr val="FDEFE4"/>
          </a:solidFill>
          <a:ln w="1778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6096" y="2523744"/>
            <a:ext cx="35570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1A1A1A"/>
                </a:solidFill>
                <a:latin typeface="Helvetica Neue"/>
                <a:ea typeface="Noto Sans TC"/>
              </a:rPr>
              <a:t>③ Vercel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2852928"/>
            <a:ext cx="355701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A4A4A"/>
                </a:solidFill>
                <a:latin typeface="Helvetica Neue"/>
                <a:ea typeface="Noto Sans TC"/>
              </a:rPr>
              <a:t>你的網站真的在這裡跑
（畫面 ＋ 一支 AI 入口）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778240" y="3675887"/>
            <a:ext cx="237744" cy="292608"/>
          </a:xfrm>
          <a:prstGeom prst="down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10561320" y="3675887"/>
            <a:ext cx="237744" cy="292608"/>
          </a:xfrm>
          <a:prstGeom prst="down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34656" y="4096512"/>
            <a:ext cx="1783080" cy="1097280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 w="17780">
            <a:solidFill>
              <a:srgbClr val="8A8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422452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4A4A4A"/>
                </a:solidFill>
                <a:latin typeface="Helvetica Neue"/>
                <a:ea typeface="Noto Sans TC"/>
              </a:rPr>
              <a:t>④ Groq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4553712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A4A4A"/>
                </a:solidFill>
                <a:latin typeface="Helvetica Neue"/>
                <a:ea typeface="Noto Sans TC"/>
              </a:rPr>
              <a:t>AI 在這
（你的 key 在③）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1472" y="4096512"/>
            <a:ext cx="1783080" cy="1097280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 w="17780">
            <a:solidFill>
              <a:srgbClr val="8A8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2" y="422452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4A4A4A"/>
                </a:solidFill>
                <a:latin typeface="Helvetica Neue"/>
                <a:ea typeface="Noto Sans TC"/>
              </a:rPr>
              <a:t>⑤ Supabase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4553712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A4A4A"/>
                </a:solidFill>
                <a:latin typeface="Helvetica Neue"/>
                <a:ea typeface="Noto Sans TC"/>
              </a:rPr>
              <a:t>資料存這
（RLS 在這擋）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096512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 w="17780">
            <a:solidFill>
              <a:srgbClr val="8A8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224528"/>
            <a:ext cx="2606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4A4A4A"/>
                </a:solidFill>
                <a:latin typeface="Helvetica Neue"/>
                <a:ea typeface="Noto Sans TC"/>
              </a:rPr>
              <a:t>使用者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53712"/>
            <a:ext cx="260603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A4A4A"/>
                </a:solidFill>
                <a:latin typeface="Helvetica Neue"/>
                <a:ea typeface="Noto Sans TC"/>
              </a:rPr>
              <a:t>打開你的網址
只看得到③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822191" y="4498848"/>
            <a:ext cx="292608" cy="237744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9392" y="4041648"/>
            <a:ext cx="30632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C2410C"/>
                </a:solidFill>
                <a:latin typeface="Helvetica Neue"/>
                <a:ea typeface="Noto Sans TC"/>
              </a:rPr>
              <a:t>他按送出 → ③ 拿你的 key
去問 ④，要留紀錄才寫 ⑤
他的瀏覽器永遠碰不到 ④⑤，
也碰不到你的 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>
                <a:solidFill>
                  <a:srgbClr val="C2410C"/>
                </a:solidFill>
                <a:latin typeface="Helvetica Neue"/>
                <a:ea typeface="Noto Sans TC"/>
              </a:rPr>
              <a:t>①②③ 是你的，你改得動；④⑤ 是租來的，你只能照它的規則呼叫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想法落在哪一層，就叫 AI 動那一層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你不必知道要改哪個檔 —— 講你想看到什麼就好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39696"/>
          <a:ext cx="10360152" cy="237744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291840"/>
                <a:gridCol w="1737360"/>
                <a:gridCol w="5330952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你的想法</a:t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落在</a:t>
                      </a:r>
                    </a:p>
                  </a:txBody>
                  <a:tcPr marL="201168" marR="201168" marT="36576" marB="36576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你就這樣跟 Codex 講</a:t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畫面上的字、顏色、按鈕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① 頁面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「送出按鈕的字改成『幫我整理』」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AI 回答的內容或格式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③ 伺服器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「回答多一欄負責人，沒寫就填未指定」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要記住上次打了什麼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⑤ 資料庫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「我要記住上次打的，該加什麼？」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5212080"/>
            <a:ext cx="10362895" cy="896112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5358384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  <a:ea typeface="Noto Sans TC"/>
              </a:rPr>
              <a:t>說得出「從什麼變成什麼」→ 直接講，這叫具體
不知道該動哪裡 → 先問路：「我要 ___，該加什麼？」，這叫抽象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那個 AI 在你的網站哪裡？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6412"/>
            <a:ext cx="2151811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使用者
打字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7651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1427" y="3296412"/>
            <a:ext cx="2151811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你的畫面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94679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8455" y="3296412"/>
            <a:ext cx="2151811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你的伺服器
key 只在這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31707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5483" y="3296412"/>
            <a:ext cx="2151811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Groq
AI 在這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38928"/>
            <a:ext cx="1036289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4A4A4A"/>
                </a:solidFill>
                <a:latin typeface="Helvetica Neue"/>
                <a:ea typeface="Noto Sans TC"/>
              </a:rPr>
              <a:t>為什麼 key 不能放前端：任何人打開瀏覽器的原始碼就看得到它
所以前端只跟「你自己的伺服器」說話，由伺服器拿著 key 去問 AI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Chatbot 跟 Agent 差在呼叫幾次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今天做到哪一步，我講清楚，不含糊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39696"/>
          <a:ext cx="10360152" cy="324612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011680"/>
                <a:gridCol w="4206240"/>
                <a:gridCol w="4142232"/>
              </a:tblGrid>
              <a:tr h="649224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/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今天做的</a:t>
                      </a:r>
                    </a:p>
                  </a:txBody>
                  <a:tcPr marL="201168" marR="201168" marT="36576" marB="36576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完整的 Agent</a:t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API 呼叫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一次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多次，它自己決定要幾次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「自我檢查」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同一段輸出裡自己說「我不確定 X」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真的跑第二輪驗證第一輪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工具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沒有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自己呼叫工具查資料、讀檔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下一步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你決定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它看上一輪結果決定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504688"/>
            <a:ext cx="103628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>
                <a:solidFill>
                  <a:srgbClr val="C2410C"/>
                </a:solidFill>
                <a:latin typeface="Helvetica Neue"/>
                <a:ea typeface="Noto Sans TC"/>
              </a:rPr>
              <a:t>今天裝的是骨架：角色 ＋ 判斷規則 ＋ 自我檢查
讓它自己跑多輪（五層裡的 ❹ Loop）是下一步 —— 今天不做，但你要知道差在哪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Agent 零件①：角色設定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48256"/>
            <a:ext cx="10362895" cy="3383280"/>
          </a:xfrm>
          <a:prstGeom prst="roundRect">
            <a:avLst>
              <a:gd name="adj" fmla="val 4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10896" rIns="219456" tIns="164592" bIns="128016"/>
          <a:lstStyle/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跟 Codex 說：把 AI 的角色設定換成這段 —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你是一位嚴謹的會議秘書。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把使用者貼進來的筆記整理成三類：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待辦事項 / 已做的決議 / 需要再確認的事。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用表格輸出，欄位是「類別 | 內容 | 負責人」。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沒寫負責人的填「未指定」，不要自己猜是誰。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不確定的放進「需要再確認」，不要編。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48256"/>
            <a:ext cx="82296" cy="33832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C2410C"/>
                </a:solidFill>
                <a:latin typeface="Helvetica Neue"/>
                <a:ea typeface="Noto Sans TC"/>
              </a:rPr>
              <a:t>「不要自己猜」「不要編」這兩句很重要 —— 不寫它就會編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Agent 零件②③：判斷規則 ＋ 自我檢查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48256"/>
            <a:ext cx="10362895" cy="3108960"/>
          </a:xfrm>
          <a:prstGeom prst="roundRect">
            <a:avLst>
              <a:gd name="adj" fmla="val 4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10896" rIns="219456" tIns="164592" bIns="128016"/>
          <a:lstStyle/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跟 Codex 說：AI 的角色設定再加這幾條規則 —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- 沒寫負責人的填「未指定」，不要自己猜是誰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- 只根據我貼的內容，不要補你覺得應該有的事項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- 不確定屬於哪一類，就放進「待確認」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- 最後另外列一段「我不確定的地方」給我看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48256"/>
            <a:ext cx="82296" cy="31089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650992"/>
            <a:ext cx="103628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C2410C"/>
                </a:solidFill>
                <a:latin typeface="Helvetica Neue"/>
                <a:ea typeface="Noto Sans TC"/>
              </a:rPr>
              <a:t>同一段筆記，它從「編出一堆合理但根本沒講過的待辦」
變成「老實承認這裡我不知道」—— 差別只在這四行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裝完之後：調參數讓它更穩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48256"/>
            <a:ext cx="10362895" cy="2240280"/>
          </a:xfrm>
          <a:prstGeom prst="roundRect">
            <a:avLst>
              <a:gd name="adj" fmla="val 4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10896" rIns="219456" tIns="164592" bIns="128016"/>
          <a:lstStyle/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跟 Codex 說：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「把 temperature 設成 0.2，max_tokens 設成 1200」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temperature  沒設的話預設是 1，調低 = 每次結果更穩、少亂發揮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max_tokens   輸出上限，避免它寫成一篇論文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model        現在用 llama-3.3-70b-versatile，免費又快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48256"/>
            <a:ext cx="82296" cy="22402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" y="4693920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5024" y="4572000"/>
            <a:ext cx="9814255" cy="426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1A1A1A"/>
                </a:solidFill>
                <a:latin typeface="Helvetica Neue"/>
                <a:ea typeface="Noto Sans TC"/>
              </a:rPr>
              <a:t>輸出格式每次都跑掉 → 先叫它把 temperature 調到 0.2，不是換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5120640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4998720"/>
            <a:ext cx="9814255" cy="426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1A1A1A"/>
                </a:solidFill>
                <a:latin typeface="Helvetica Neue"/>
                <a:ea typeface="Noto Sans TC"/>
              </a:rPr>
              <a:t>答案被截斷 → 叫它把 max_tokens 加大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5547360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5024" y="5425440"/>
            <a:ext cx="9814255" cy="426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1A1A1A"/>
                </a:solidFill>
                <a:latin typeface="Helvetica Neue"/>
                <a:ea typeface="Noto Sans TC"/>
              </a:rPr>
              <a:t>真的需要更強的推理 → 才叫它換更大的 model（會變慢）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改東西的兩條紀律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5A5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① 一次只講一件事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384803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✗「幫我做一個會議整理器」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110228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✗「介面弄漂亮一點」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835652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✓「把標題改成 X，提示改成 Y」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② 壞了先退回，不要接著補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98767" y="3384803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1375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✗「幫我修好」→ 它會一直加東西，越補越難救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98767" y="4110228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1375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✓「退回上一個能動的版本」→ 它自己會做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8767" y="4835652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1375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　　退回去之後，把需求重講一次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>
                <a:solidFill>
                  <a:srgbClr val="C2410C"/>
                </a:solidFill>
                <a:latin typeface="Helvetica Neue"/>
                <a:ea typeface="Noto Sans TC"/>
              </a:rPr>
              <a:t>退回去不算失敗 —— 版本控制的整個意義，就是讓你敢改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你的網站現在沒有記憶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436875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5024" y="2139696"/>
            <a:ext cx="981425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1A1A1A"/>
                </a:solidFill>
                <a:latin typeface="Helvetica Neue"/>
                <a:ea typeface="Noto Sans TC"/>
              </a:rPr>
              <a:t>重新整理 → 剛才打的東西不見了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3214115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5024" y="2916936"/>
            <a:ext cx="981425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1A1A1A"/>
                </a:solidFill>
                <a:latin typeface="Helvetica Neue"/>
                <a:ea typeface="Noto Sans TC"/>
              </a:rPr>
              <a:t>關掉分頁 → 全部歸零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3991356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3694176"/>
            <a:ext cx="981425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1A1A1A"/>
                </a:solidFill>
                <a:latin typeface="Helvetica Neue"/>
                <a:ea typeface="Noto Sans TC"/>
              </a:rPr>
              <a:t>因為資料只活在瀏覽器的記憶體裡，沒有人把它寫下來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4768596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5024" y="4471416"/>
            <a:ext cx="981425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1A1A1A"/>
                </a:solidFill>
                <a:latin typeface="Helvetica Neue"/>
                <a:ea typeface="Noto Sans TC"/>
              </a:rPr>
              <a:t>要留住 = 要有一個地方存 = 資料庫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C2410C"/>
                </a:solidFill>
                <a:latin typeface="Helvetica Neue"/>
                <a:ea typeface="Noto Sans TC"/>
              </a:rPr>
              <a:t>今天不做完 —— 下一頁給你要怎麼交辦，回家自己接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要存資料的時候：交辦這一段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48256"/>
            <a:ext cx="10362895" cy="2606040"/>
          </a:xfrm>
          <a:prstGeom prst="roundRect">
            <a:avLst>
              <a:gd name="adj" fmla="val 4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10896" rIns="219456" tIns="164592" bIns="128016"/>
          <a:lstStyle/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我要讓網站記住使用者之前送出過的內容。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請幫我接 Supabase（走 Vercel Marketplace，環境變數會自動注入），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建一張表存紀錄，然後：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1. 建完表一定要開 RLS，並加上讀寫的 policy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2. 告訴我怎麼確認 RLS 真的生效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不要把 key 印在畫面上。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48256"/>
            <a:ext cx="82296" cy="26060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38928"/>
            <a:ext cx="103628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>
                <a:solidFill>
                  <a:srgbClr val="C2410C"/>
                </a:solidFill>
                <a:latin typeface="Helvetica Neue"/>
                <a:ea typeface="Noto Sans TC"/>
              </a:rPr>
              <a:t>🔴 RLS 預設是關的 —— 沒開等於任何人拿你的網址就能讀走整張表、也能清空它
Supabase 的 anon key 本來就在前端，所以擋人的那層是 RLS，不是那把 key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你剛才做的事，有名字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AI 工程的五層演進 —— 你今天走過前三層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39696"/>
            <a:ext cx="10362895" cy="466344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2171699"/>
            <a:ext cx="402336" cy="402336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FFFFF"/>
                </a:solidFill>
                <a:latin typeface="Helvetica Neue"/>
                <a:ea typeface="Noto Sans T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2139696"/>
            <a:ext cx="9174175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Prompt Engineering</a:t>
            </a:r>
            <a:r>
              <a:rPr sz="2400" b="0">
                <a:solidFill>
                  <a:srgbClr val="8A8A85"/>
                </a:solidFill>
                <a:latin typeface="Helvetica Neue"/>
                <a:ea typeface="Noto Sans TC"/>
              </a:rPr>
              <a:t>   ｜   </a:t>
            </a: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你寫的那些 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15768"/>
            <a:ext cx="10362895" cy="466344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2747771"/>
            <a:ext cx="402336" cy="402336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FFFFF"/>
                </a:solidFill>
                <a:latin typeface="Helvetica Neue"/>
                <a:ea typeface="Noto Sans T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715768"/>
            <a:ext cx="9174175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Context Engineering</a:t>
            </a:r>
            <a:r>
              <a:rPr sz="2400" b="0">
                <a:solidFill>
                  <a:srgbClr val="8A8A85"/>
                </a:solidFill>
                <a:latin typeface="Helvetica Neue"/>
                <a:ea typeface="Noto Sans TC"/>
              </a:rPr>
              <a:t>   ｜   </a:t>
            </a: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你 review 過的 SPEC.md ← 就是這層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91839"/>
            <a:ext cx="10362895" cy="466344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3856" y="3323843"/>
            <a:ext cx="402336" cy="402336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FFFFF"/>
                </a:solidFill>
                <a:latin typeface="Helvetica Neue"/>
                <a:ea typeface="Noto Sans T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3291839"/>
            <a:ext cx="9174175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Harness Engineering</a:t>
            </a:r>
            <a:r>
              <a:rPr sz="2400" b="0">
                <a:solidFill>
                  <a:srgbClr val="8A8A85"/>
                </a:solidFill>
                <a:latin typeface="Helvetica Neue"/>
                <a:ea typeface="Noto Sans TC"/>
              </a:rPr>
              <a:t>   ｜   </a:t>
            </a: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那個綠勾勾 CI ← 也是這層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67911"/>
            <a:ext cx="10362895" cy="466344"/>
          </a:xfrm>
          <a:prstGeom prst="roundRect">
            <a:avLst>
              <a:gd name="adj" fmla="val 22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3856" y="3899915"/>
            <a:ext cx="402336" cy="402336"/>
          </a:xfrm>
          <a:prstGeom prst="ellipse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FFFFF"/>
                </a:solidFill>
                <a:latin typeface="Helvetica Neue"/>
                <a:ea typeface="Noto Sans T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3867911"/>
            <a:ext cx="9174175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5A5A55"/>
                </a:solidFill>
                <a:latin typeface="Helvetica Neue"/>
                <a:ea typeface="Noto Sans TC"/>
              </a:rPr>
              <a:t>Loop Engineering</a:t>
            </a:r>
            <a:r>
              <a:rPr sz="2400" b="0">
                <a:solidFill>
                  <a:srgbClr val="8A8A85"/>
                </a:solidFill>
                <a:latin typeface="Helvetica Neue"/>
                <a:ea typeface="Noto Sans TC"/>
              </a:rPr>
              <a:t>   ｜   </a:t>
            </a: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讓系統自己一輪一輪推進（還沒做）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443983"/>
            <a:ext cx="10362895" cy="466344"/>
          </a:xfrm>
          <a:prstGeom prst="roundRect">
            <a:avLst>
              <a:gd name="adj" fmla="val 22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3856" y="4475988"/>
            <a:ext cx="402336" cy="402336"/>
          </a:xfrm>
          <a:prstGeom prst="ellipse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FFFFF"/>
                </a:solidFill>
                <a:latin typeface="Helvetica Neue"/>
                <a:ea typeface="Noto Sans T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4443983"/>
            <a:ext cx="9174175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5A5A55"/>
                </a:solidFill>
                <a:latin typeface="Helvetica Neue"/>
                <a:ea typeface="Noto Sans TC"/>
              </a:rPr>
              <a:t>Graph Engineering</a:t>
            </a:r>
            <a:r>
              <a:rPr sz="2400" b="0">
                <a:solidFill>
                  <a:srgbClr val="8A8A85"/>
                </a:solidFill>
                <a:latin typeface="Helvetica Neue"/>
                <a:ea typeface="Noto Sans TC"/>
              </a:rPr>
              <a:t>   ｜   </a:t>
            </a: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多個 AI 分工協作（還沒做）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084064"/>
            <a:ext cx="10362895" cy="786384"/>
          </a:xfrm>
          <a:prstGeom prst="roundRect">
            <a:avLst>
              <a:gd name="adj" fmla="val 16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❶❷❸ 今天你親手做過了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上台 2 分鐘，講這三件事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57984"/>
            <a:ext cx="10362895" cy="50292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2144" y="2217420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2139696"/>
            <a:ext cx="862553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我原本要花多久做這件事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52344"/>
            <a:ext cx="10362895" cy="50292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2811780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2734056"/>
            <a:ext cx="862553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這個東西幫我做掉了哪一段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46703"/>
            <a:ext cx="10362895" cy="50292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" y="3406139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3328415"/>
            <a:ext cx="862553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今天沒做完的部分，接下來會怎麼長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315968"/>
            <a:ext cx="10362895" cy="1627632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480560"/>
            <a:ext cx="96313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>
                <a:solidFill>
                  <a:srgbClr val="C2410C"/>
                </a:solidFill>
                <a:latin typeface="Helvetica Neue"/>
                <a:ea typeface="Noto Sans TC"/>
              </a:rPr>
              <a:t>github.com/young-ai-courses/ai-agent-workshop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919472"/>
            <a:ext cx="9631375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  <a:ea typeface="Noto Sans TC"/>
              </a:rPr>
              <a:t>QUICKSTART　六張工單：環境 → 上線 → 調 AI → 存資料
agent-prompts　Agent prompt 模板
AGENTS.md　clone 完 Codex 就是你的助教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